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57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8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1EF6F-5AA8-A8DD-1024-46E6AEE8F7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728B05-4F26-0FB6-E2C9-430626AF9B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5A7A90-A680-A93B-62AC-0680457C3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2BA09-CF7C-406A-A98E-801C819E31FA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6D5284-BB10-2A62-FB0C-82268D7777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D5FE71-9E51-2882-CF92-1AA542EE8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87F2F-FEBB-4A9F-9ABD-F4D09848F5D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52793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D326D-5468-071B-D685-D65BECDC6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44900B-57E3-7633-D687-A7ED6A1D1B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EE8D9-5063-39E0-DDD9-A0DB54B0F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2BA09-CF7C-406A-A98E-801C819E31FA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2DB8B-945B-F9BB-4CC5-E286CD3FFA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477F-15EE-5586-DA6B-1B72DFC2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87F2F-FEBB-4A9F-9ABD-F4D09848F5D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78121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38CB5-9304-7579-BAD7-53BE48734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038EA2-9C5F-7DE2-12BB-76CF4ED7B9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FBDBD1-578C-13E2-055B-E5D31B9387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2BA09-CF7C-406A-A98E-801C819E31FA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9CF820-462A-9559-44C1-BCF8E059C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17B0A0-9305-45BE-9E9E-5FDA1149F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87F2F-FEBB-4A9F-9ABD-F4D09848F5D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37482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A424E-5DF9-D503-F37A-753FE2E6D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ECFC54-A209-E119-D35B-E362FC0C61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2A1E6B-2572-D264-BE80-24B1336CDA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4E66E-BC7C-7682-7106-8135E0A29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2BA09-CF7C-406A-A98E-801C819E31FA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BF33F4-910C-91CD-1B24-B31FD7CAE2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5A56CD-D32C-F65B-E9C5-EB8C0122F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87F2F-FEBB-4A9F-9ABD-F4D09848F5D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504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14C61-AB75-6FF1-2B86-930C82DDA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E3EC2C-0E63-091C-6E6D-EBCB00F87E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A071E0-C572-A018-8970-512225D998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F81B905-E2F5-5771-CC94-57544E15EE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E206A31-9BEB-3168-5C4A-0C45D85F90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0790BAE-A7A2-9154-EE20-432ECC14F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2BA09-CF7C-406A-A98E-801C819E31FA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83E705F-92A7-2112-69BC-F193B0FB2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5D9D88E-67B7-97AE-9EC7-5023CBAF9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87F2F-FEBB-4A9F-9ABD-F4D09848F5D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80962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8D62A-1FAB-BD64-B128-F009A611E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A00E93-123D-84E6-3059-B70201F3FB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2BA09-CF7C-406A-A98E-801C819E31FA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22FE40-8984-0F22-B354-0C29CECA51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3EABDE-7231-EFE3-C973-955155525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87F2F-FEBB-4A9F-9ABD-F4D09848F5D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00932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8C1C3A-C398-62B6-7E5B-BCBA57C3B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2BA09-CF7C-406A-A98E-801C819E31FA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F22D5D-5816-54A9-7CD4-F452AFF22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659137-5A82-50A9-4A67-8FEB9F32C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87F2F-FEBB-4A9F-9ABD-F4D09848F5D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36571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D1B3D-7D4E-930A-F335-795BCC75B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A64EBE-459E-B13D-48DF-4111DCF116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5804EA-F7BD-780C-E513-E14D46BC04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958C10-BC7B-5787-D178-6F9147947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2BA09-CF7C-406A-A98E-801C819E31FA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8CF6C7-248B-D481-BF83-67C0926E7D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CD8650-A0F5-9A10-5A0B-A9171486A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87F2F-FEBB-4A9F-9ABD-F4D09848F5D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67182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6FEBA4-B992-7B1C-A531-1A0D0F0BE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024DED-75C3-A093-B0AA-71D22DE1487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123DCE-A9B1-A321-E020-F6096FBE73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83A314-42B3-73E0-7EDD-8B17FB954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2BA09-CF7C-406A-A98E-801C819E31FA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DB8326-C2FF-D82E-0C65-6F16A0E9F4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09A3FF-D743-0EF0-122B-6736188F3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87F2F-FEBB-4A9F-9ABD-F4D09848F5D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70858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FDB00-F8A5-33A5-0BD1-1F5973CB8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4CF46A-C5BF-CC35-7399-0D648DA70F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A76A32-7B73-3407-BD33-043C8C2B7C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2BA09-CF7C-406A-A98E-801C819E31FA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18F488-7D82-1632-D3A0-85EB84C21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6CF3D5-D683-3765-E29E-4782A968E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87F2F-FEBB-4A9F-9ABD-F4D09848F5D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25444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4A26967-855E-EA85-E6E3-A9BAFA2216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2D385F-1001-EFD4-1C73-385DF09676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302D4E-0081-2DF2-3B3E-8461020F4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2BA09-CF7C-406A-A98E-801C819E31FA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9EAE41-0680-C35D-5340-2C6D1D087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EC69B6-4547-5DD9-2221-8BEA2A1C5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87F2F-FEBB-4A9F-9ABD-F4D09848F5D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80982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B70CAB-F747-E80F-D821-A327DC459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5F555D-0F16-4A38-46C3-8EBCCAFF42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F365F-F0DB-0FE2-DB83-A81FD30010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B2BA09-CF7C-406A-A98E-801C819E31FA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3FCE86-B600-1B6E-E41A-ABCBDC48B7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D11CC8-8FCD-D511-E04A-C6238B4644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787F2F-FEBB-4A9F-9ABD-F4D09848F5D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2203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536E0-9614-CBD6-3E59-4FB6CF63CD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855298-98BC-2BE0-D49B-DEE84CF20B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34800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EB9A0-5700-9238-E90E-DC9450987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196217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A826E-4256-754A-B300-86A3D4195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sz="2400" b="1" dirty="0"/>
              <a:t>Figure X. Integrated radar plot showing diet-level performance across three physiological systems.</a:t>
            </a:r>
            <a:endParaRPr lang="en-GB" sz="2400" dirty="0"/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D6389860-AB20-4278-BD52-E493EF181F51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7276" r="7276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42BBFF-5D8B-6C3F-4619-2B68AE85818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Scores represent standardized means for RBC/oxygen capacity (right axis), lipid health (bottom axis; higher = healthier lipid profile), and immune stress (left axis; higher = lower stress, derived from −scaled NLR). T2 shows the best lipid metabolic profile, extending farthest along the lipid axis. T4 displays the strongest </a:t>
            </a:r>
            <a:r>
              <a:rPr lang="en-GB" dirty="0" err="1"/>
              <a:t>erythrogram</a:t>
            </a:r>
            <a:r>
              <a:rPr lang="en-GB" dirty="0"/>
              <a:t> response, with the highest RBC/oxygen score. Immune stress shows an unexpected but data-supported pattern: T1 has the highest immune health score, followed by T4 and T3, while T2 shows the highest relative immune stress. Each diet forms a distinct physiological signature across systems, demonstrating diet-specific effects.</a:t>
            </a:r>
          </a:p>
        </p:txBody>
      </p:sp>
    </p:spTree>
    <p:extLst>
      <p:ext uri="{BB962C8B-B14F-4D97-AF65-F5344CB8AC3E}">
        <p14:creationId xmlns:p14="http://schemas.microsoft.com/office/powerpoint/2010/main" val="12212723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insects and their components&#10;&#10;AI-generated content may be incorrect.">
            <a:extLst>
              <a:ext uri="{FF2B5EF4-FFF2-40B4-BE49-F238E27FC236}">
                <a16:creationId xmlns:a16="http://schemas.microsoft.com/office/drawing/2014/main" id="{5B913235-AB5D-02D4-DFD8-F3B339B6A6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5657" y="990045"/>
            <a:ext cx="4180113" cy="348203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7A7331D-2204-FB5B-30BF-26F7C34329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787961"/>
            <a:ext cx="3886200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61626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10259</TotalTime>
  <Words>133</Words>
  <Application>Microsoft Office PowerPoint</Application>
  <PresentationFormat>Widescreen</PresentationFormat>
  <Paragraphs>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Figure X. Integrated radar plot showing diet-level performance across three physiological systems.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Chia, Shaphan</dc:creator>
  <cp:lastModifiedBy>Chia, Shaphan</cp:lastModifiedBy>
  <cp:revision>2</cp:revision>
  <dcterms:created xsi:type="dcterms:W3CDTF">2025-11-17T17:24:29Z</dcterms:created>
  <dcterms:modified xsi:type="dcterms:W3CDTF">2025-11-24T20:24:22Z</dcterms:modified>
</cp:coreProperties>
</file>